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9" dt="2026-09-10T19:04:32.483"/>
    <p1510:client id="{18C929D9-F1F9-948A-F53C-991769A7CB2D}" v="4" dt="2026-09-10T18:23:02.298"/>
    <p1510:client id="{E85D8E41-73FC-4B8D-984E-EDA8EF66E8CC}" v="348" dt="2026-09-10T17:08:43.074"/>
    <p1510:client id="{EB87AF99-9313-4B07-507A-E2D6A2011CE6}" v="8" dt="2026-09-10T18:47:36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09-10T19:04:32.483" v="164"/>
      <pc:docMkLst>
        <pc:docMk/>
      </pc:docMkLst>
      <pc:sldChg chg="addSp delSp modSp">
        <pc:chgData name="Guest User" userId="" providerId="Windows Live" clId="Web-{00000000-0000-0000-0000-000000000000}" dt="2026-09-10T19:04:32.483" v="164"/>
        <pc:sldMkLst>
          <pc:docMk/>
          <pc:sldMk cId="0" sldId="281"/>
        </pc:sldMkLst>
        <pc:spChg chg="add del mod">
          <ac:chgData name="Guest User" userId="" providerId="Windows Live" clId="Web-{00000000-0000-0000-0000-000000000000}" dt="2026-09-10T17:01:52.482" v="87"/>
          <ac:spMkLst>
            <pc:docMk/>
            <pc:sldMk cId="0" sldId="281"/>
            <ac:spMk id="2" creationId="{483C4EDF-316F-E54E-E48C-4AF6E29C20A0}"/>
          </ac:spMkLst>
        </pc:spChg>
        <pc:spChg chg="add del mod">
          <ac:chgData name="Guest User" userId="" providerId="Windows Live" clId="Web-{00000000-0000-0000-0000-000000000000}" dt="2026-09-10T19:04:32.483" v="164"/>
          <ac:spMkLst>
            <pc:docMk/>
            <pc:sldMk cId="0" sldId="281"/>
            <ac:spMk id="2" creationId="{6D0F1834-A855-FE75-4663-B552DFFFF2EE}"/>
          </ac:spMkLst>
        </pc:spChg>
        <pc:spChg chg="add del mod">
          <ac:chgData name="Guest User" userId="" providerId="Windows Live" clId="Web-{00000000-0000-0000-0000-000000000000}" dt="2026-09-10T17:02:47.047" v="99"/>
          <ac:spMkLst>
            <pc:docMk/>
            <pc:sldMk cId="0" sldId="281"/>
            <ac:spMk id="3" creationId="{272114E4-E1F1-466D-0283-41E5192BB2FA}"/>
          </ac:spMkLst>
        </pc:spChg>
        <pc:spChg chg="add mod">
          <ac:chgData name="Guest User" userId="" providerId="Windows Live" clId="Web-{00000000-0000-0000-0000-000000000000}" dt="2026-09-10T17:03:34.783" v="101"/>
          <ac:spMkLst>
            <pc:docMk/>
            <pc:sldMk cId="0" sldId="281"/>
            <ac:spMk id="4" creationId="{9CEC7780-1D2D-1DEF-3E71-2C91624E519C}"/>
          </ac:spMkLst>
        </pc:spChg>
        <pc:spChg chg="mod">
          <ac:chgData name="Guest User" userId="" providerId="Windows Live" clId="Web-{00000000-0000-0000-0000-000000000000}" dt="2026-09-10T18:44:08.862" v="160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addSp delSp modSp">
        <pc:chgData name="Guest User" userId="" providerId="Windows Live" clId="Web-{00000000-0000-0000-0000-000000000000}" dt="2026-09-10T17:24:35.149" v="138" actId="14100"/>
        <pc:sldMkLst>
          <pc:docMk/>
          <pc:sldMk cId="3753387913" sldId="293"/>
        </pc:sldMkLst>
        <pc:spChg chg="add del mod">
          <ac:chgData name="Guest User" userId="" providerId="Windows Live" clId="Web-{00000000-0000-0000-0000-000000000000}" dt="2026-09-10T17:24:35.149" v="138" actId="14100"/>
          <ac:spMkLst>
            <pc:docMk/>
            <pc:sldMk cId="3753387913" sldId="293"/>
            <ac:spMk id="17410" creationId="{00000000-0000-0000-0000-000000000000}"/>
          </ac:spMkLst>
        </pc:spChg>
      </pc:sldChg>
    </pc:docChg>
  </pc:docChgLst>
  <pc:docChgLst>
    <pc:chgData name="Arka Aich" userId="8948d17c72ffb11c" providerId="LiveId" clId="{3F3FF54B-D6DA-4204-96C3-2F8C61D72251}"/>
    <pc:docChg chg="undo redo custSel modSld">
      <pc:chgData name="Arka Aich" userId="8948d17c72ffb11c" providerId="LiveId" clId="{3F3FF54B-D6DA-4204-96C3-2F8C61D72251}" dt="2026-09-10T17:08:43.074" v="391" actId="20577"/>
      <pc:docMkLst>
        <pc:docMk/>
      </pc:docMkLst>
      <pc:sldChg chg="delSp modSp mod">
        <pc:chgData name="Arka Aich" userId="8948d17c72ffb11c" providerId="LiveId" clId="{3F3FF54B-D6DA-4204-96C3-2F8C61D72251}" dt="2026-09-10T17:08:43.074" v="391" actId="20577"/>
        <pc:sldMkLst>
          <pc:docMk/>
          <pc:sldMk cId="0" sldId="281"/>
        </pc:sldMkLst>
        <pc:spChg chg="del mod">
          <ac:chgData name="Arka Aich" userId="8948d17c72ffb11c" providerId="LiveId" clId="{3F3FF54B-D6DA-4204-96C3-2F8C61D72251}" dt="2026-09-10T17:04:26.530" v="333"/>
          <ac:spMkLst>
            <pc:docMk/>
            <pc:sldMk cId="0" sldId="281"/>
            <ac:spMk id="4" creationId="{9CEC7780-1D2D-1DEF-3E71-2C91624E519C}"/>
          </ac:spMkLst>
        </pc:spChg>
        <pc:spChg chg="mod">
          <ac:chgData name="Arka Aich" userId="8948d17c72ffb11c" providerId="LiveId" clId="{3F3FF54B-D6DA-4204-96C3-2F8C61D72251}" dt="2026-09-10T16:40:35.507" v="287" actId="14100"/>
          <ac:spMkLst>
            <pc:docMk/>
            <pc:sldMk cId="0" sldId="281"/>
            <ac:spMk id="10" creationId="{5DBCE864-823D-4A13-9607-5DA1F0ED5FB8}"/>
          </ac:spMkLst>
        </pc:spChg>
        <pc:spChg chg="mod">
          <ac:chgData name="Arka Aich" userId="8948d17c72ffb11c" providerId="LiveId" clId="{3F3FF54B-D6DA-4204-96C3-2F8C61D72251}" dt="2026-09-10T17:08:43.074" v="391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modSp mod">
        <pc:chgData name="Arka Aich" userId="8948d17c72ffb11c" providerId="LiveId" clId="{3F3FF54B-D6DA-4204-96C3-2F8C61D72251}" dt="2026-09-10T16:38:45.984" v="251" actId="14100"/>
        <pc:sldMkLst>
          <pc:docMk/>
          <pc:sldMk cId="0" sldId="290"/>
        </pc:sldMkLst>
        <pc:spChg chg="mod">
          <ac:chgData name="Arka Aich" userId="8948d17c72ffb11c" providerId="LiveId" clId="{3F3FF54B-D6DA-4204-96C3-2F8C61D72251}" dt="2026-09-10T16:38:45.984" v="251" actId="14100"/>
          <ac:spMkLst>
            <pc:docMk/>
            <pc:sldMk cId="0" sldId="290"/>
            <ac:spMk id="17410" creationId="{00000000-0000-0000-0000-000000000000}"/>
          </ac:spMkLst>
        </pc:spChg>
      </pc:sldChg>
      <pc:sldChg chg="modSp mod">
        <pc:chgData name="Arka Aich" userId="8948d17c72ffb11c" providerId="LiveId" clId="{3F3FF54B-D6DA-4204-96C3-2F8C61D72251}" dt="2026-09-10T16:07:40.131" v="243" actId="14100"/>
        <pc:sldMkLst>
          <pc:docMk/>
          <pc:sldMk cId="0" sldId="291"/>
        </pc:sldMkLst>
        <pc:spChg chg="mod">
          <ac:chgData name="Arka Aich" userId="8948d17c72ffb11c" providerId="LiveId" clId="{3F3FF54B-D6DA-4204-96C3-2F8C61D72251}" dt="2026-09-10T15:58:18.726" v="85" actId="14100"/>
          <ac:spMkLst>
            <pc:docMk/>
            <pc:sldMk cId="0" sldId="291"/>
            <ac:spMk id="4" creationId="{00000000-0000-0000-0000-000000000000}"/>
          </ac:spMkLst>
        </pc:spChg>
        <pc:spChg chg="mod">
          <ac:chgData name="Arka Aich" userId="8948d17c72ffb11c" providerId="LiveId" clId="{3F3FF54B-D6DA-4204-96C3-2F8C61D72251}" dt="2026-09-10T16:07:40.131" v="243" actId="14100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Arka Aich" userId="8948d17c72ffb11c" providerId="LiveId" clId="{3F3FF54B-D6DA-4204-96C3-2F8C61D72251}" dt="2026-09-10T15:58:03.991" v="82" actId="1076"/>
          <ac:picMkLst>
            <pc:docMk/>
            <pc:sldMk cId="0" sldId="291"/>
            <ac:picMk id="5" creationId="{9120848B-B2B4-45BE-A961-AEC0B06CF41B}"/>
          </ac:picMkLst>
        </pc:picChg>
      </pc:sldChg>
      <pc:sldChg chg="modSp mod">
        <pc:chgData name="Arka Aich" userId="8948d17c72ffb11c" providerId="LiveId" clId="{3F3FF54B-D6DA-4204-96C3-2F8C61D72251}" dt="2026-09-10T16:58:10.371" v="324" actId="14100"/>
        <pc:sldMkLst>
          <pc:docMk/>
          <pc:sldMk cId="2997144140" sldId="294"/>
        </pc:sldMkLst>
        <pc:spChg chg="mod">
          <ac:chgData name="Arka Aich" userId="8948d17c72ffb11c" providerId="LiveId" clId="{3F3FF54B-D6DA-4204-96C3-2F8C61D72251}" dt="2026-09-10T16:58:10.371" v="324" actId="14100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Arka Aich" userId="8948d17c72ffb11c" providerId="LiveId" clId="{3F3FF54B-D6DA-4204-96C3-2F8C61D72251}" dt="2026-09-10T16:57:39.439" v="296" actId="1076"/>
          <ac:spMkLst>
            <pc:docMk/>
            <pc:sldMk cId="2997144140" sldId="294"/>
            <ac:spMk id="17410" creationId="{00000000-0000-0000-0000-000000000000}"/>
          </ac:spMkLst>
        </pc:spChg>
      </pc:sldChg>
    </pc:docChg>
  </pc:docChgLst>
  <pc:docChgLst>
    <pc:chgData name="Guest User" providerId="Windows Live" clId="Web-{18C929D9-F1F9-948A-F53C-991769A7CB2D}"/>
    <pc:docChg chg="modSld">
      <pc:chgData name="Guest User" userId="" providerId="Windows Live" clId="Web-{18C929D9-F1F9-948A-F53C-991769A7CB2D}" dt="2026-09-10T18:23:02.298" v="2" actId="20577"/>
      <pc:docMkLst>
        <pc:docMk/>
      </pc:docMkLst>
      <pc:sldChg chg="modSp">
        <pc:chgData name="Guest User" userId="" providerId="Windows Live" clId="Web-{18C929D9-F1F9-948A-F53C-991769A7CB2D}" dt="2026-09-10T18:23:02.298" v="2" actId="20577"/>
        <pc:sldMkLst>
          <pc:docMk/>
          <pc:sldMk cId="0" sldId="281"/>
        </pc:sldMkLst>
        <pc:spChg chg="mod">
          <ac:chgData name="Guest User" userId="" providerId="Windows Live" clId="Web-{18C929D9-F1F9-948A-F53C-991769A7CB2D}" dt="2026-09-10T18:23:02.298" v="2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modSp">
        <pc:chgData name="Guest User" userId="" providerId="Windows Live" clId="Web-{18C929D9-F1F9-948A-F53C-991769A7CB2D}" dt="2026-09-10T18:09:14.190" v="0" actId="14100"/>
        <pc:sldMkLst>
          <pc:docMk/>
          <pc:sldMk cId="0" sldId="290"/>
        </pc:sldMkLst>
        <pc:spChg chg="mod">
          <ac:chgData name="Guest User" userId="" providerId="Windows Live" clId="Web-{18C929D9-F1F9-948A-F53C-991769A7CB2D}" dt="2026-09-10T18:09:14.190" v="0" actId="14100"/>
          <ac:spMkLst>
            <pc:docMk/>
            <pc:sldMk cId="0" sldId="290"/>
            <ac:spMk id="17409" creationId="{00000000-0000-0000-0000-000000000000}"/>
          </ac:spMkLst>
        </pc:spChg>
      </pc:sldChg>
    </pc:docChg>
  </pc:docChgLst>
  <pc:docChgLst>
    <pc:chgData clId="Web-{EB87AF99-9313-4B07-507A-E2D6A2011CE6}"/>
    <pc:docChg chg="modSld">
      <pc:chgData name="" userId="" providerId="" clId="Web-{EB87AF99-9313-4B07-507A-E2D6A2011CE6}" dt="2026-09-10T18:47:36.718" v="3" actId="20577"/>
      <pc:docMkLst>
        <pc:docMk/>
      </pc:docMkLst>
      <pc:sldChg chg="modSp">
        <pc:chgData name="" userId="" providerId="" clId="Web-{EB87AF99-9313-4B07-507A-E2D6A2011CE6}" dt="2026-09-10T18:47:36.718" v="3" actId="20577"/>
        <pc:sldMkLst>
          <pc:docMk/>
          <pc:sldMk cId="0" sldId="281"/>
        </pc:sldMkLst>
        <pc:spChg chg="mod">
          <ac:chgData name="" userId="" providerId="" clId="Web-{EB87AF99-9313-4B07-507A-E2D6A2011CE6}" dt="2026-09-10T18:47:36.718" v="3" actId="20577"/>
          <ac:spMkLst>
            <pc:docMk/>
            <pc:sldMk cId="0" sldId="281"/>
            <ac:spMk id="1536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88550" y="185603"/>
            <a:ext cx="1115666" cy="1193234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25698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176" y="1526848"/>
            <a:ext cx="11548872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Problem Statement ID – 26131</a:t>
            </a:r>
            <a:endParaRPr lang="en-US"/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Problem Statement Title –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Early Detection and Management of Crop Diseases and Pest Infestations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Theme – Agriculture, Foodtech &amp; Rural Development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PS Category – Software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Team Name – Farmstack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26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Farmstack: AI Crop-Health Detection &amp; Advisory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06405" y="1395246"/>
            <a:ext cx="114964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 u="sng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3347" cy="91693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Farmstack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256032" y="1115568"/>
            <a:ext cx="3246120" cy="4526280"/>
          </a:xfrm>
          <a:prstGeom prst="roundRect">
            <a:avLst>
              <a:gd name="adj" fmla="val 8000"/>
            </a:avLst>
          </a:prstGeom>
          <a:solidFill>
            <a:srgbClr val="F2F8FC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A. PROBLEM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Disease &amp; pest threats often recognised after visible crop damage.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Farmers may have limited access to timely expert guidance.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Weather, crop, location &amp; history are rarely considered together.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Delayed / inappropriate management raises crop loss &amp; input costs.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0" y="1115568"/>
            <a:ext cx="4572000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794760" y="118872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B. FARMSTACK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3794760" y="14813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Combines crop-health detection with trusted knowledge and farmer-friendly assistance.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160520" y="2011680"/>
            <a:ext cx="3566160" cy="36576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Farmer / Field Input</a:t>
            </a:r>
          </a:p>
        </p:txBody>
      </p:sp>
      <p:sp>
        <p:nvSpPr>
          <p:cNvPr id="15368" name="Down Arrow 15367"/>
          <p:cNvSpPr/>
          <p:nvPr/>
        </p:nvSpPr>
        <p:spPr>
          <a:xfrm>
            <a:off x="5806440" y="2359152"/>
            <a:ext cx="256032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160520" y="2432304"/>
            <a:ext cx="3566160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Detection</a:t>
            </a:r>
          </a:p>
        </p:txBody>
      </p:sp>
      <p:sp>
        <p:nvSpPr>
          <p:cNvPr id="15370" name="Down Arrow 15369"/>
          <p:cNvSpPr/>
          <p:nvPr/>
        </p:nvSpPr>
        <p:spPr>
          <a:xfrm>
            <a:off x="5806440" y="2779776"/>
            <a:ext cx="256032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4160520" y="2852928"/>
            <a:ext cx="3566160" cy="36576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&amp; Knowledge</a:t>
            </a:r>
          </a:p>
        </p:txBody>
      </p:sp>
      <p:sp>
        <p:nvSpPr>
          <p:cNvPr id="15372" name="Down Arrow 15371"/>
          <p:cNvSpPr/>
          <p:nvPr/>
        </p:nvSpPr>
        <p:spPr>
          <a:xfrm>
            <a:off x="5806440" y="3200400"/>
            <a:ext cx="256032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4160520" y="3273552"/>
            <a:ext cx="3566160" cy="3657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Actionable Advisory</a:t>
            </a:r>
          </a:p>
        </p:txBody>
      </p:sp>
      <p:sp>
        <p:nvSpPr>
          <p:cNvPr id="15374" name="Down Arrow 15373"/>
          <p:cNvSpPr/>
          <p:nvPr/>
        </p:nvSpPr>
        <p:spPr>
          <a:xfrm>
            <a:off x="5806440" y="3621024"/>
            <a:ext cx="256032" cy="109728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4160520" y="3694176"/>
            <a:ext cx="3566160" cy="36576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160520" y="5074920"/>
            <a:ext cx="3566160" cy="310896"/>
          </a:xfrm>
          <a:prstGeom prst="roundRect">
            <a:avLst>
              <a:gd name="adj" fmla="val 10000"/>
            </a:avLst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PROTOTYPE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366760" y="111556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C. INNOVATION / UNIQUENESS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8366760" y="1444752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Crop-specific AI diagnosis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8366760" y="2157984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RAG-grounded agricultural guidance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8366760" y="2871216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Multilingual + voice interaction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8366760" y="3584448"/>
            <a:ext cx="3520440" cy="640080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Integrated farmer + expert workflow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8366760" y="4434840"/>
            <a:ext cx="3520440" cy="11430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B8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/>
          <a:lstStyle/>
          <a:p>
            <a:pPr algn="ctr"/>
            <a:r>
              <a:rPr sz="1100" b="1">
                <a:solidFill>
                  <a:srgbClr val="B85C00"/>
                </a:solidFill>
                <a:latin typeface="Calibri"/>
                <a:ea typeface="Calibri"/>
                <a:cs typeface="Calibri"/>
              </a:rPr>
              <a:t>SIH EXTENSION</a:t>
            </a:r>
          </a:p>
          <a:p>
            <a:pPr algn="ctr"/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Pest + Weather Risk +
Geospatial Monitoring +
Expert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7145"/>
            <a:ext cx="10972800" cy="1061720"/>
          </a:xfrm>
        </p:spPr>
        <p:txBody>
          <a:bodyPr/>
          <a:lstStyle/>
          <a:p>
            <a:pPr eaLnBrk="1" hangingPunct="1" algn="l"/>
            <a:r>
              <a:rPr sz="26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Farmstack</a:t>
            </a:r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28600" y="1024128"/>
            <a:ext cx="1783080" cy="237744"/>
          </a:xfrm>
          <a:prstGeom prst="roundRect">
            <a:avLst>
              <a:gd name="adj" fmla="val 10000"/>
            </a:avLst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PROTOTYPE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103120" y="1024128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Implemented workflow  |  DenseNet121 + RAG (SentenceTransformer + FAISS) + NLP/LLM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28600" y="1325880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FARMER / FIELD INPUT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28600" y="1572768"/>
            <a:ext cx="2331720" cy="310896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Crop Leaf Image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28600" y="1938528"/>
            <a:ext cx="2331720" cy="310896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Voice / Text Query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28600" y="2304288"/>
            <a:ext cx="2331720" cy="310896"/>
          </a:xfrm>
          <a:prstGeom prst="roundRect">
            <a:avLst>
              <a:gd name="adj" fmla="val 10000"/>
            </a:avLst>
          </a:prstGeom>
          <a:solidFill>
            <a:srgbClr val="DE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Crop / Field Information</a:t>
            </a:r>
          </a:p>
        </p:txBody>
      </p:sp>
      <p:pic>
        <p:nvPicPr>
          <p:cNvPr id="17416" name="Picture 17415" descr="crop_leaf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88920"/>
            <a:ext cx="1965960" cy="196596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28600" y="480060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Sample leaf input (prototype)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2651760" y="2011680"/>
            <a:ext cx="320040" cy="201168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3063240" y="135331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 PROCESSING</a:t>
            </a:r>
          </a:p>
        </p:txBody>
      </p:sp>
      <p:sp>
        <p:nvSpPr>
          <p:cNvPr id="17420" name="Down Arrow 17419"/>
          <p:cNvSpPr/>
          <p:nvPr/>
        </p:nvSpPr>
        <p:spPr>
          <a:xfrm>
            <a:off x="5394960" y="166420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063240" y="171907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CROP-SPECIFIC DENSENET121</a:t>
            </a:r>
          </a:p>
        </p:txBody>
      </p:sp>
      <p:sp>
        <p:nvSpPr>
          <p:cNvPr id="17422" name="Down Arrow 17421"/>
          <p:cNvSpPr/>
          <p:nvPr/>
        </p:nvSpPr>
        <p:spPr>
          <a:xfrm>
            <a:off x="5394960" y="202996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3063240" y="208483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DISEASE + CONFIDENCE (Argmax)</a:t>
            </a:r>
          </a:p>
        </p:txBody>
      </p:sp>
      <p:sp>
        <p:nvSpPr>
          <p:cNvPr id="17424" name="Down Arrow 17423"/>
          <p:cNvSpPr/>
          <p:nvPr/>
        </p:nvSpPr>
        <p:spPr>
          <a:xfrm>
            <a:off x="5394960" y="239572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3063240" y="245059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KNOWLEDGE RETRIEVAL</a:t>
            </a:r>
          </a:p>
        </p:txBody>
      </p:sp>
      <p:sp>
        <p:nvSpPr>
          <p:cNvPr id="17426" name="Down Arrow 17425"/>
          <p:cNvSpPr/>
          <p:nvPr/>
        </p:nvSpPr>
        <p:spPr>
          <a:xfrm>
            <a:off x="5394960" y="276148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3063240" y="281635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SentenceTransformer → FAISS Search</a:t>
            </a:r>
          </a:p>
        </p:txBody>
      </p:sp>
      <p:sp>
        <p:nvSpPr>
          <p:cNvPr id="17428" name="Down Arrow 17427"/>
          <p:cNvSpPr/>
          <p:nvPr/>
        </p:nvSpPr>
        <p:spPr>
          <a:xfrm>
            <a:off x="5394960" y="312724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3063240" y="318211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RELEVANT AGRICULTURAL KNOWLEDGE</a:t>
            </a:r>
          </a:p>
        </p:txBody>
      </p:sp>
      <p:sp>
        <p:nvSpPr>
          <p:cNvPr id="17430" name="Down Arrow 17429"/>
          <p:cNvSpPr/>
          <p:nvPr/>
        </p:nvSpPr>
        <p:spPr>
          <a:xfrm>
            <a:off x="5394960" y="349300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3063240" y="354787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NLP + LLM → Treatment / Prevention</a:t>
            </a:r>
          </a:p>
        </p:txBody>
      </p:sp>
      <p:sp>
        <p:nvSpPr>
          <p:cNvPr id="17432" name="Down Arrow 17431"/>
          <p:cNvSpPr/>
          <p:nvPr/>
        </p:nvSpPr>
        <p:spPr>
          <a:xfrm>
            <a:off x="5394960" y="385876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3063240" y="391363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MULTILINGUAL TEXT / VOICE</a:t>
            </a:r>
          </a:p>
        </p:txBody>
      </p:sp>
      <p:sp>
        <p:nvSpPr>
          <p:cNvPr id="17434" name="Down Arrow 17433"/>
          <p:cNvSpPr/>
          <p:nvPr/>
        </p:nvSpPr>
        <p:spPr>
          <a:xfrm>
            <a:off x="5394960" y="4224528"/>
            <a:ext cx="201168" cy="91440"/>
          </a:xfrm>
          <a:prstGeom prst="down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3063240" y="4279392"/>
            <a:ext cx="4983480" cy="329184"/>
          </a:xfrm>
          <a:prstGeom prst="roundRect">
            <a:avLst>
              <a:gd name="adj" fmla="val 10000"/>
            </a:avLst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 + HISTORY + EXPERT DASHBOARD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229600" y="1325880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TECHNOLOGIES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229600" y="1572768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DenseNet121 (crop-specific)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Flutter mobile + FastAPI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RAG + FAISS embeddings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SentenceTransformer retrieval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NLP + LLM (Gemini)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Multilingual TTS / STT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SQLite history + Expert dashboard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229600" y="3474720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MODEL RESULTS (Reported)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229600" y="3730752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50800"/>
          <a:lstStyle/>
          <a:p>
            <a:pPr algn="ctr">
              <a:spcBef>
                <a:spcPts val="100"/>
              </a:spcBef>
            </a:pPr>
            <a:r>
              <a:rPr sz="900" b="1">
                <a:solidFill>
                  <a:srgbClr val="003A70"/>
                </a:solidFill>
                <a:latin typeface="Consolas"/>
                <a:ea typeface="Consolas"/>
                <a:cs typeface="Consolas"/>
              </a:rPr>
              <a:t>Crop        Acc    P     R     F1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Sugarcane   94%  0.95  0.94  0.94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Grapes      99%  0.99  0.99  0.99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Sunflower   90%  0.90  0.90  0.90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Cotton      93%  0.93  0.93  0.93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228600" y="5285232"/>
            <a:ext cx="2148840" cy="256032"/>
          </a:xfrm>
          <a:prstGeom prst="roundRect">
            <a:avLst>
              <a:gd name="adj" fmla="val 10000"/>
            </a:avLst>
          </a:prstGeom>
          <a:solidFill>
            <a:srgbClr val="B8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 SIH EXTENSION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2468880" y="5257800"/>
            <a:ext cx="9372600" cy="475488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B8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Pest Detection  |  Pest Traps/Sensors  |  Weather Risk  |  Geospatial Hotspots  |  Expert Validation  |  Field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Farmstack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70432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2F8FC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1. TECHNICAL FEASIBILITY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Computer Vision with crop-specific DenseNet121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RAG + FAISS knowledge retrieval integrated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NLP + LLM guidance grounded in retrieved text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Mobile (Flutter) + FastAPI backend + history DB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72200" y="1170432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 w="15875">
            <a:solidFill>
              <a:srgbClr val="1F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1F7A4C"/>
                </a:solidFill>
                <a:latin typeface="Calibri"/>
                <a:ea typeface="Calibri"/>
                <a:cs typeface="Calibri"/>
              </a:rPr>
              <a:t>2. FIELD FEASIBILITY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Mobile-first farmer interaction workflow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Multilingual UI and advisory support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Voice input/output for accessible interaction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Farmer-friendly treatment / prevention guidance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6032" y="3493008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DEBEB"/>
          </a:solidFill>
          <a:ln w="15875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9B2C2C"/>
                </a:solidFill>
                <a:latin typeface="Calibri"/>
                <a:ea typeface="Calibri"/>
                <a:cs typeface="Calibri"/>
              </a:rPr>
              <a:t>3. KEY RISKS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Image quality, lighting &amp; background variation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Limited / noisy field data for some conditions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Connectivity constraints in rural settings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Prediction uncertainty on unseen disease stages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3493008"/>
            <a:ext cx="5715000" cy="21488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B8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B85C00"/>
                </a:solidFill>
                <a:latin typeface="Calibri"/>
                <a:ea typeface="Calibri"/>
                <a:cs typeface="Calibri"/>
              </a:rPr>
              <a:t>4. MITIGATION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Confidence-aware results for uncertain cases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Expert / lab referral pathway (SIH extension)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Diverse field datasets &amp; continuous validation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Multiple data sources + low-connectivity-friendly design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736771" cy="84312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Farmstack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56032" y="1115568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 w="15875">
            <a:solidFill>
              <a:srgbClr val="1F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1F7A4C"/>
                </a:solidFill>
                <a:latin typeface="Calibri"/>
                <a:ea typeface="Calibri"/>
                <a:cs typeface="Calibri"/>
              </a:rPr>
              <a:t>FARMERS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Earlier crop-health information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Easier access to guidance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Multilingual / voice interaction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8549640" y="1115568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DEECF8"/>
          </a:solidFill>
          <a:ln w="15875">
            <a:solidFill>
              <a:srgbClr val="003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AGRICULTURAL EXPERTS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Organised prediction records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Easier case review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Improved monitoring support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6032" y="361188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5875">
            <a:solidFill>
              <a:srgbClr val="B8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B85C00"/>
                </a:solidFill>
                <a:latin typeface="Calibri"/>
                <a:ea typeface="Calibri"/>
                <a:cs typeface="Calibri"/>
              </a:rPr>
              <a:t>ECONOMIC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Supports timely management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Potential reduction in avoidable crop losses / costs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549640" y="3611880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E4F5F0"/>
          </a:solidFill>
          <a:ln w="15875">
            <a:solidFill>
              <a:srgbClr val="1A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76200"/>
          <a:lstStyle/>
          <a:p>
            <a:pPr algn="l"/>
            <a:r>
              <a:rPr sz="1200" b="1">
                <a:solidFill>
                  <a:srgbClr val="1A6B5A"/>
                </a:solidFill>
                <a:latin typeface="Calibri"/>
                <a:ea typeface="Calibri"/>
                <a:cs typeface="Calibri"/>
              </a:rPr>
              <a:t>ENVIRONMENTAL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More targeted decision-making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• Supports reduction of unnecessary / inappropriate pesticide use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703320" y="1234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Supports earlier awareness and actionable advisory — without claiming guaranteed yield outcomes.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709160" y="1965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FARMSTACK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703320" y="2926080"/>
            <a:ext cx="1508760" cy="960120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EARLY
DETECTION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349240" y="2926080"/>
            <a:ext cx="1508760" cy="960120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BETTER DECISION
SUPPORT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995160" y="2926080"/>
            <a:ext cx="1508760" cy="960120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IMPROVED CROP-
HEALTH MANAGEMENT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5230368" y="3246120"/>
            <a:ext cx="164592" cy="256032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ight Arrow 17419"/>
          <p:cNvSpPr/>
          <p:nvPr/>
        </p:nvSpPr>
        <p:spPr>
          <a:xfrm>
            <a:off x="6876288" y="3246120"/>
            <a:ext cx="164592" cy="256032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703320" y="4160520"/>
            <a:ext cx="47548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HOW IT HELPS</a:t>
            </a:r>
          </a:p>
          <a:p>
            <a:pPr algn="ctr"/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Current prototype delivers disease detection + RAG advisory.
SIH extension adds pest, weather, geospatial &amp; expert validation.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Farmstack</a:t>
            </a:r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170432"/>
            <a:ext cx="11338560" cy="713232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1. DenseNet</a:t>
            </a:r>
          </a:p>
          <a:p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Huang, G., Liu, Z., Van Der Maaten, L., &amp; Weinberger, K. Q. (2017). Densely Connected Convolutional Networks. CVPR.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956816"/>
            <a:ext cx="11338560" cy="713232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2. Retrieval-Augmented Generation</a:t>
            </a:r>
          </a:p>
          <a:p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Lewis, P., et al. (2020). Retrieval-Augmented Generation for Knowledge-Intensive NLP Tasks. NeurIPS.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2743200"/>
            <a:ext cx="11338560" cy="713232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3. Sentence-BERT / SentenceTransformer</a:t>
            </a:r>
          </a:p>
          <a:p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Reimers, N., &amp; Gurevych, I. (2019). Sentence-BERT: Sentence Embeddings using Siamese BERT-Networks. EMNLP.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1480" y="3529584"/>
            <a:ext cx="11338560" cy="713232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4. Plant disease detection research</a:t>
            </a:r>
          </a:p>
          <a:p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Mohanty, S. P., Hughes, D. P., &amp; Salathé, M. (2016). Using Deep Learning for Image-Based Plant Disease Detection. Frontiers in Plant Science.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4315968"/>
            <a:ext cx="11338560" cy="713232"/>
          </a:xfrm>
          <a:prstGeom prst="roundRect">
            <a:avLst>
              <a:gd name="adj" fmla="val 10000"/>
            </a:avLst>
          </a:prstGeom>
          <a:solidFill>
            <a:srgbClr val="F2F8FC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100" b="1">
                <a:solidFill>
                  <a:srgbClr val="003A70"/>
                </a:solidFill>
                <a:latin typeface="Calibri"/>
                <a:ea typeface="Calibri"/>
                <a:cs typeface="Calibri"/>
              </a:rPr>
              <a:t>5. PlantVillage / dataset research</a:t>
            </a:r>
          </a:p>
          <a:p>
            <a:r>
              <a:rPr sz="1000" b="0">
                <a:solidFill>
                  <a:srgbClr val="1F2A37"/>
                </a:solidFill>
                <a:latin typeface="Calibri"/>
                <a:ea typeface="Calibri"/>
                <a:cs typeface="Calibri"/>
              </a:rPr>
              <a:t>Hughes, D. P., &amp; Salathé, M. (2015). An open access repository of images on plant health to enable the development of mobile disease diagnostics. arXiv:1511.08060.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52578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Prototype stack: DenseNet121 • SentenceTransformer embeddings • FAISS • RAG • NLP/LLM • Flutter + FastAPI  |  PS 26131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8</cp:revision>
  <dcterms:created xsi:type="dcterms:W3CDTF">2013-12-12T18:46:50Z</dcterms:created>
  <dcterms:modified xsi:type="dcterms:W3CDTF">2026-09-10T19:04:37Z</dcterms:modified>
  <cp:category/>
</cp:coreProperties>
</file>